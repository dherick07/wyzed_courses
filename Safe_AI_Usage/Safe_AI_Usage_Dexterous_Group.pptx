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937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5486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64008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8229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AI Usage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40080" y="1874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Client Data &amp; Your Practice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2578608"/>
            <a:ext cx="5029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AI tools safely — without putting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confidentiality or your licence at risk.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703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Team</a:t>
            </a:r>
            <a:r>
              <a:rPr lang="en-US" sz="13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For Dexterous Group Employees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4828032"/>
            <a:ext cx="8823960" cy="320040"/>
          </a:xfrm>
          <a:prstGeom prst="rect">
            <a:avLst/>
          </a:prstGeom>
          <a:solidFill>
            <a:srgbClr val="0A1130"/>
          </a:solidFill>
          <a:ln w="12700">
            <a:solidFill>
              <a:srgbClr val="0A113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Shape 9"/>
          <p:cNvSpPr/>
          <p:nvPr/>
        </p:nvSpPr>
        <p:spPr>
          <a:xfrm>
            <a:off x="6675120" y="2926080"/>
            <a:ext cx="2103120" cy="1463040"/>
          </a:xfrm>
          <a:prstGeom prst="rect">
            <a:avLst/>
          </a:prstGeom>
          <a:solidFill>
            <a:srgbClr val="1B2A6B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0"/>
          <p:cNvSpPr/>
          <p:nvPr/>
        </p:nvSpPr>
        <p:spPr>
          <a:xfrm>
            <a:off x="6675120" y="3017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675120" y="363931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use 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 work — and rising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(Gallup, Feb 2026)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Accounting Today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 increasingly rely on AI tools for everyday tasks — but many are unaware of the risks.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20240" cy="457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167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use AI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 work — and rising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Gallup, Feb 2026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14600" y="14173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19202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251460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14600" y="2167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firms still have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AI policy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analysis, 2025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20240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466344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$5.08M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2167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 breach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IBM, 2024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12280" y="14173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6812280" y="1417320"/>
            <a:ext cx="1920240" cy="457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681228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12280" y="21671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breached organisations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lacked AI access controls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IBM, 2024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017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Our Team Uses Every Day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4023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365760" y="3456432"/>
            <a:ext cx="73152" cy="4937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502920" y="34930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69417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chatbot — widely used for drafts, research, calculations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456432"/>
            <a:ext cx="4023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4709160" y="3456432"/>
            <a:ext cx="73152" cy="4937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4846320" y="34930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69417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Word, Excel, Outlook — powerful but needs configuration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4023360"/>
            <a:ext cx="4023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1" name="Shape 29"/>
          <p:cNvSpPr/>
          <p:nvPr/>
        </p:nvSpPr>
        <p:spPr>
          <a:xfrm>
            <a:off x="365760" y="4023360"/>
            <a:ext cx="73152" cy="4937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Text 30"/>
          <p:cNvSpPr/>
          <p:nvPr/>
        </p:nvSpPr>
        <p:spPr>
          <a:xfrm>
            <a:off x="502920" y="4059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2611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in Google Workspace — useful but has privacy implications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4023360"/>
            <a:ext cx="4023360" cy="49377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5" name="Shape 33"/>
          <p:cNvSpPr/>
          <p:nvPr/>
        </p:nvSpPr>
        <p:spPr>
          <a:xfrm>
            <a:off x="4709160" y="4023360"/>
            <a:ext cx="73152" cy="49377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6" name="Text 34"/>
          <p:cNvSpPr/>
          <p:nvPr/>
        </p:nvSpPr>
        <p:spPr>
          <a:xfrm>
            <a:off x="4846320" y="40599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LLMs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42611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Perplexity, Grok — varied data policies and enterprise controls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Text 38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Core Risks for Accountants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286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without the right safeguards exposes your firm to serious consequences.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8412480" cy="105156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658368" cy="10515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1463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Privacy &amp; Leakage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179222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client data entered into consumer AI tools may be stored, logged, and used to train future models. Once shared — it cannot be taken back.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527048"/>
            <a:ext cx="2240280" cy="777240"/>
          </a:xfrm>
          <a:prstGeom prst="rect">
            <a:avLst/>
          </a:prstGeom>
          <a:solidFill>
            <a:srgbClr val="0A113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6446520" y="157276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now the #1 data exfiltration channel in the enterprise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(LayerX, 2025)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8412480" cy="105156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658368" cy="10515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70432" y="26334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Hallucinations &amp; Errors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70432" y="296265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confidently produce incorrect information — wrong tax codes, fabricated legislation, or flawed financial figures. You carry the professional liability.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2697480"/>
            <a:ext cx="2240280" cy="777240"/>
          </a:xfrm>
          <a:prstGeom prst="rect">
            <a:avLst/>
          </a:prstGeom>
          <a:solidFill>
            <a:srgbClr val="0A113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6446520" y="27432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AU: $291K refund after AI hallucinated a govt report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730752"/>
            <a:ext cx="8412480" cy="1051560"/>
          </a:xfrm>
          <a:prstGeom prst="rect">
            <a:avLst/>
          </a:prstGeom>
          <a:solidFill>
            <a:srgbClr val="1B2A6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658368" cy="105156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365760" y="40050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70432" y="3803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Regulatory Breach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0432" y="413308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client data with AI may breach professional obligations, the Privacy Act, and the Tax File Number (TFN) Rules — exposing you to criminal penalties.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3867912"/>
            <a:ext cx="2240280" cy="777240"/>
          </a:xfrm>
          <a:prstGeom prst="rect">
            <a:avLst/>
          </a:prstGeom>
          <a:solidFill>
            <a:srgbClr val="0A113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6446520" y="391363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TFN disclosure: up to $21,000 fine + 2 years imprisonment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1: Data Privacy &amp; Leakage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Happens to Your Data?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2984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35608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138988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ChatGPT (Free/Plus) may use your conversations to train future models.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2103120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4028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6112" y="21945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are logged and processed on external servers — outside your control.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65760" y="2907792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44952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299923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data processors may access conversations during quality reviews.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65760" y="3712464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849624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96112" y="380390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"Shadow AI" — staff using personal accounts — bypasses all firm controls.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709160" y="841248"/>
            <a:ext cx="4023360" cy="2194560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2"/>
          <p:cNvSpPr/>
          <p:nvPr/>
        </p:nvSpPr>
        <p:spPr>
          <a:xfrm>
            <a:off x="4800600" y="9144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Real Incident: Samsung Leak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800600" y="1325880"/>
            <a:ext cx="3794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2023, Samsung engineers accidentally leaked confidential source code and internal meeting notes by pasting them directly into ChatGPT. The data was stored on OpenAI servers and could not be deleted.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subsequently banned all use of generative AI tools on company devices.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4709160" y="3154680"/>
            <a:ext cx="4023360" cy="9601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Text 15"/>
          <p:cNvSpPr/>
          <p:nvPr/>
        </p:nvSpPr>
        <p:spPr>
          <a:xfrm>
            <a:off x="4663440" y="3355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+$670,000</a:t>
            </a:r>
            <a:endParaRPr lang="en-US" sz="2800" dirty="0"/>
          </a:p>
        </p:txBody>
      </p:sp>
      <p:sp>
        <p:nvSpPr>
          <p:cNvPr id="23" name="Text 16"/>
          <p:cNvSpPr/>
          <p:nvPr/>
        </p:nvSpPr>
        <p:spPr>
          <a:xfrm>
            <a:off x="6995160" y="32004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additional cost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by Shadow AI to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breach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709160" y="4206240"/>
            <a:ext cx="4023360" cy="475488"/>
          </a:xfrm>
          <a:prstGeom prst="rect">
            <a:avLst/>
          </a:prstGeom>
          <a:solidFill>
            <a:srgbClr val="E8ECF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5" name="Text 18"/>
          <p:cNvSpPr/>
          <p:nvPr/>
        </p:nvSpPr>
        <p:spPr>
          <a:xfrm>
            <a:off x="4754880" y="42611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TFNs  •  Financial statements  •  Bank account details  •  Tax returns  •  Payroll data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1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2: AI Hallucinations &amp; Financial Errors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generate plausible-sounding answers — even when they are completely wrong. In accounting, this can lead to significant financial and legal consequences.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5760" y="13716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Hallucinations Look Like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764792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810512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5528" y="18013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Citing tax legislation that does not exist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65760" y="2276856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32257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5528" y="23134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ATO thresholds or rates for the wrong year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65760" y="2788920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83464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5528" y="28254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Fabricating case law or ATO rulings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365760" y="3300984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346704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95528" y="3337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in financial calculations presented confidently</a:t>
            </a:r>
            <a:endParaRPr lang="en-US" sz="1050" dirty="0"/>
          </a:p>
        </p:txBody>
      </p:sp>
      <p:sp>
        <p:nvSpPr>
          <p:cNvPr id="19" name="Shape 12"/>
          <p:cNvSpPr/>
          <p:nvPr/>
        </p:nvSpPr>
        <p:spPr>
          <a:xfrm>
            <a:off x="365760" y="3813048"/>
            <a:ext cx="4023360" cy="438912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858768"/>
            <a:ext cx="292608" cy="29260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95528" y="38496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plausible-looking but fictitious data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4709160" y="1325880"/>
            <a:ext cx="4023360" cy="2057400"/>
          </a:xfrm>
          <a:prstGeom prst="rect">
            <a:avLst/>
          </a:prstGeom>
          <a:solidFill>
            <a:srgbClr val="FFF8F0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3" name="Text 15"/>
          <p:cNvSpPr/>
          <p:nvPr/>
        </p:nvSpPr>
        <p:spPr>
          <a:xfrm>
            <a:off x="4800600" y="1399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Study: Deloitte Australia (2025)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4800600" y="178308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Deloitte Australia engagement team used AI to research government policy. The AI hallucinated a government report that didn't exist, leading to flawed advice. The firm was required to issue a $291,000 refund to the client.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liability insurance did not cover the claim, as it was classified as a quality failure.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4709160" y="3493008"/>
            <a:ext cx="4023360" cy="914400"/>
          </a:xfrm>
          <a:prstGeom prst="rect">
            <a:avLst/>
          </a:prstGeom>
          <a:solidFill>
            <a:srgbClr val="FFFBF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6" name="Text 18"/>
          <p:cNvSpPr/>
          <p:nvPr/>
        </p:nvSpPr>
        <p:spPr>
          <a:xfrm>
            <a:off x="480060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Professional Liability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800600" y="38587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— not the AI — are responsible for every figure, claim, and piece of advice you provide to clients. Always verify AI output independently.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365760" y="4407408"/>
            <a:ext cx="4023360" cy="32004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9" name="Text 21"/>
          <p:cNvSpPr/>
          <p:nvPr/>
        </p:nvSpPr>
        <p:spPr>
          <a:xfrm>
            <a:off x="411480" y="4425696"/>
            <a:ext cx="3931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of employees admit to making mistakes due to AI-generated errors  (KPMG, April 2025)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Text 24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3: Compliance &amp; Regulatory Obligations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registered tax practitioner or accountant, you are legally bound to protect client data. Sharing it with AI without proper controls is a breach of these obligations.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20040" y="1389888"/>
            <a:ext cx="2724912" cy="2651760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Shape 4"/>
          <p:cNvSpPr/>
          <p:nvPr/>
        </p:nvSpPr>
        <p:spPr>
          <a:xfrm>
            <a:off x="320040" y="1389888"/>
            <a:ext cx="272491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/>
          <p:nvPr/>
        </p:nvSpPr>
        <p:spPr>
          <a:xfrm>
            <a:off x="411480" y="14813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 Practitioners Board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18470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Item 6 — Confidentiality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21488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tax agents must not disclose confidential client information to any third party — including AI platforms — without client consent or legal compulsion.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3456432"/>
            <a:ext cx="2542032" cy="457200"/>
          </a:xfrm>
          <a:prstGeom prst="rect">
            <a:avLst/>
          </a:prstGeom>
          <a:solidFill>
            <a:srgbClr val="0A0A2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Text 9"/>
          <p:cNvSpPr/>
          <p:nvPr/>
        </p:nvSpPr>
        <p:spPr>
          <a:xfrm>
            <a:off x="429768" y="349300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Deregistration / civil penalty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1389888"/>
            <a:ext cx="2724912" cy="2651760"/>
          </a:xfrm>
          <a:prstGeom prst="rect">
            <a:avLst/>
          </a:prstGeom>
          <a:solidFill>
            <a:srgbClr val="5C0A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3200400" y="1389888"/>
            <a:ext cx="272491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5" name="Text 12"/>
          <p:cNvSpPr/>
          <p:nvPr/>
        </p:nvSpPr>
        <p:spPr>
          <a:xfrm>
            <a:off x="3291840" y="14813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(TFN) Rule 2015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291840" y="18470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Taxation Administration Act 1953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291840" y="21488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Disclosing a client's Tax File Number to an unauthorised third party is a criminal offence. Consumer AI tools are not authorised recipients.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91840" y="3456432"/>
            <a:ext cx="2542032" cy="457200"/>
          </a:xfrm>
          <a:prstGeom prst="rect">
            <a:avLst/>
          </a:prstGeom>
          <a:solidFill>
            <a:srgbClr val="0A0A2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9" name="Text 16"/>
          <p:cNvSpPr/>
          <p:nvPr/>
        </p:nvSpPr>
        <p:spPr>
          <a:xfrm>
            <a:off x="3310128" y="349300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Up to $21,000 + 2 years prison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80760" y="1389888"/>
            <a:ext cx="2724912" cy="2651760"/>
          </a:xfrm>
          <a:prstGeom prst="rect">
            <a:avLst/>
          </a:prstGeom>
          <a:solidFill>
            <a:srgbClr val="1A4A1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Shape 18"/>
          <p:cNvSpPr/>
          <p:nvPr/>
        </p:nvSpPr>
        <p:spPr>
          <a:xfrm>
            <a:off x="6080760" y="1389888"/>
            <a:ext cx="2724912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2" name="Text 19"/>
          <p:cNvSpPr/>
          <p:nvPr/>
        </p:nvSpPr>
        <p:spPr>
          <a:xfrm>
            <a:off x="6172200" y="14813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Australian Privacy Act 1988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172200" y="184708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Privacy Principles (APP 11)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172200" y="2148840"/>
            <a:ext cx="2542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take reasonable steps to protect personal information from misuse, interference, and unauthorised access. Using consumer AI with client data may breach APP 11.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172200" y="3456432"/>
            <a:ext cx="2542032" cy="457200"/>
          </a:xfrm>
          <a:prstGeom prst="rect">
            <a:avLst/>
          </a:prstGeom>
          <a:solidFill>
            <a:srgbClr val="0A0A2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23"/>
          <p:cNvSpPr/>
          <p:nvPr/>
        </p:nvSpPr>
        <p:spPr>
          <a:xfrm>
            <a:off x="6190488" y="3493008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Penalties up to $50M for serious breaches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20040" y="4187952"/>
            <a:ext cx="8503920" cy="53035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8" name="Text 25"/>
          <p:cNvSpPr/>
          <p:nvPr/>
        </p:nvSpPr>
        <p:spPr>
          <a:xfrm>
            <a:off x="457200" y="4233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Your obligations as an accountant do not stop at the office door — they apply to every digital tool you use, including AI.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8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vs. Enterprise AI: Know the Difference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39319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Consumer (Free / Personal)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804672"/>
            <a:ext cx="3931920" cy="4114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846320" y="80467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Enterprise / Business Grade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0" cy="42062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457200" y="1362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use your prompts to train models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9472" y="13624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NEVER used for training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1298448"/>
            <a:ext cx="548640" cy="42062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4297680" y="1344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Training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65760" y="1755648"/>
            <a:ext cx="3931920" cy="420624"/>
          </a:xfrm>
          <a:prstGeom prst="rect">
            <a:avLst/>
          </a:prstGeom>
          <a:solidFill>
            <a:srgbClr val="E8ECF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4846320" y="1755648"/>
            <a:ext cx="3931920" cy="420624"/>
          </a:xfrm>
          <a:prstGeom prst="rect">
            <a:avLst/>
          </a:prstGeom>
          <a:solidFill>
            <a:srgbClr val="E8ECF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7" name="Shape 15"/>
          <p:cNvSpPr/>
          <p:nvPr/>
        </p:nvSpPr>
        <p:spPr>
          <a:xfrm>
            <a:off x="365760" y="1755648"/>
            <a:ext cx="0" cy="42062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6"/>
          <p:cNvSpPr/>
          <p:nvPr/>
        </p:nvSpPr>
        <p:spPr>
          <a:xfrm>
            <a:off x="457200" y="1819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stored indefinitely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18196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retention or zero retention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755648"/>
            <a:ext cx="548640" cy="42062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4297680" y="18013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65760" y="221284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4846320" y="221284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365760" y="2212848"/>
            <a:ext cx="0" cy="42062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457200" y="22768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transport encryption only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22768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at rest and in transit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2212848"/>
            <a:ext cx="548640" cy="42062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4297680" y="22585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65760" y="2670048"/>
            <a:ext cx="3931920" cy="420624"/>
          </a:xfrm>
          <a:prstGeom prst="rect">
            <a:avLst/>
          </a:prstGeom>
          <a:solidFill>
            <a:srgbClr val="E8ECF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4846320" y="2670048"/>
            <a:ext cx="3931920" cy="420624"/>
          </a:xfrm>
          <a:prstGeom prst="rect">
            <a:avLst/>
          </a:prstGeom>
          <a:solidFill>
            <a:srgbClr val="E8ECF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1" name="Shape 29"/>
          <p:cNvSpPr/>
          <p:nvPr/>
        </p:nvSpPr>
        <p:spPr>
          <a:xfrm>
            <a:off x="365760" y="2670048"/>
            <a:ext cx="0" cy="42062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2" name="Text 30"/>
          <p:cNvSpPr/>
          <p:nvPr/>
        </p:nvSpPr>
        <p:spPr>
          <a:xfrm>
            <a:off x="457200" y="27340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organisation-level admin controls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19472" y="27340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dashboard, SSO, user policies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2670048"/>
            <a:ext cx="548640" cy="42062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4297680" y="27157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312724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7" name="Shape 35"/>
          <p:cNvSpPr/>
          <p:nvPr/>
        </p:nvSpPr>
        <p:spPr>
          <a:xfrm>
            <a:off x="4846320" y="312724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8" name="Shape 36"/>
          <p:cNvSpPr/>
          <p:nvPr/>
        </p:nvSpPr>
        <p:spPr>
          <a:xfrm>
            <a:off x="365760" y="3127248"/>
            <a:ext cx="0" cy="42062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9" name="Text 37"/>
          <p:cNvSpPr/>
          <p:nvPr/>
        </p:nvSpPr>
        <p:spPr>
          <a:xfrm>
            <a:off x="457200" y="31912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compliance certifications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9472" y="31912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2, ISO 27001, HIPAA-ready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0" y="3127248"/>
            <a:ext cx="548640" cy="42062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2" name="Text 40"/>
          <p:cNvSpPr/>
          <p:nvPr/>
        </p:nvSpPr>
        <p:spPr>
          <a:xfrm>
            <a:off x="4297680" y="31729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5760" y="3584448"/>
            <a:ext cx="3931920" cy="420624"/>
          </a:xfrm>
          <a:prstGeom prst="rect">
            <a:avLst/>
          </a:prstGeom>
          <a:solidFill>
            <a:srgbClr val="E8ECF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4" name="Shape 42"/>
          <p:cNvSpPr/>
          <p:nvPr/>
        </p:nvSpPr>
        <p:spPr>
          <a:xfrm>
            <a:off x="4846320" y="3584448"/>
            <a:ext cx="3931920" cy="420624"/>
          </a:xfrm>
          <a:prstGeom prst="rect">
            <a:avLst/>
          </a:prstGeom>
          <a:solidFill>
            <a:srgbClr val="E8ECF2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5" name="Shape 43"/>
          <p:cNvSpPr/>
          <p:nvPr/>
        </p:nvSpPr>
        <p:spPr>
          <a:xfrm>
            <a:off x="365760" y="3584448"/>
            <a:ext cx="0" cy="42062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6" name="Text 44"/>
          <p:cNvSpPr/>
          <p:nvPr/>
        </p:nvSpPr>
        <p:spPr>
          <a:xfrm>
            <a:off x="457200" y="36484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logging or audit trail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19472" y="36484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trails for all interactions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297680" y="3584448"/>
            <a:ext cx="548640" cy="42062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9" name="Text 47"/>
          <p:cNvSpPr/>
          <p:nvPr/>
        </p:nvSpPr>
        <p:spPr>
          <a:xfrm>
            <a:off x="4297680" y="36301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65760" y="404164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1" name="Shape 49"/>
          <p:cNvSpPr/>
          <p:nvPr/>
        </p:nvSpPr>
        <p:spPr>
          <a:xfrm>
            <a:off x="4846320" y="4041648"/>
            <a:ext cx="3931920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2" name="Shape 50"/>
          <p:cNvSpPr/>
          <p:nvPr/>
        </p:nvSpPr>
        <p:spPr>
          <a:xfrm>
            <a:off x="365760" y="4041648"/>
            <a:ext cx="0" cy="420624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3" name="Text 51"/>
          <p:cNvSpPr/>
          <p:nvPr/>
        </p:nvSpPr>
        <p:spPr>
          <a:xfrm>
            <a:off x="457200" y="410565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Free/Plus, Personal Copilot, Gemini personal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919472" y="410565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Enterprise, M365 Copilot, Gemini for Workspace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297680" y="4041648"/>
            <a:ext cx="548640" cy="420624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6" name="Text 54"/>
          <p:cNvSpPr/>
          <p:nvPr/>
        </p:nvSpPr>
        <p:spPr>
          <a:xfrm>
            <a:off x="4297680" y="4087368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65760" y="4498848"/>
            <a:ext cx="8412480" cy="22860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8" name="Text 56"/>
          <p:cNvSpPr/>
          <p:nvPr/>
        </p:nvSpPr>
        <p:spPr>
          <a:xfrm>
            <a:off x="457200" y="45034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with IT or management before using ANY AI tool with client information.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1" name="Text 59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Should NEVER Input Into Consumer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information appears in your prompt — stop. Use an anonymised version or don't use AI at all.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724912" cy="146304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272491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5331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Identifiers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17647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client names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9768" y="19933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Tax File Numbers (TFNs)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29768" y="22219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ABNs linked to identifiable clients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9768" y="24505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Date of birth, addresses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0" y="1261872"/>
            <a:ext cx="2724912" cy="146304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4" name="Shape 11"/>
          <p:cNvSpPr/>
          <p:nvPr/>
        </p:nvSpPr>
        <p:spPr>
          <a:xfrm>
            <a:off x="3200400" y="1261872"/>
            <a:ext cx="272491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5331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75888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Data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310128" y="17647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Bank account numbers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310128" y="19933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financial statements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310128" y="22219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Tax returns with client details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310128" y="24505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Payroll records, salary figures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080760" y="1261872"/>
            <a:ext cx="2724912" cy="146304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2" name="Shape 18"/>
          <p:cNvSpPr/>
          <p:nvPr/>
        </p:nvSpPr>
        <p:spPr>
          <a:xfrm>
            <a:off x="6080760" y="1261872"/>
            <a:ext cx="272491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353312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56248" y="13533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Login Credentials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190488" y="17647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Passwords or PINs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190488" y="19933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keys or system credentials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190488" y="22219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ATO portal access codes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6190488" y="24505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 portal login details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20040" y="2862072"/>
            <a:ext cx="2724912" cy="146304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Shape 25"/>
          <p:cNvSpPr/>
          <p:nvPr/>
        </p:nvSpPr>
        <p:spPr>
          <a:xfrm>
            <a:off x="320040" y="2862072"/>
            <a:ext cx="272491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953512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95528" y="29535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&amp; Contract Data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29768" y="33649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Client contracts with names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29768" y="35935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Legal advice files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429768" y="38221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Dispute or litigation details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429768" y="40507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Trust deed information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200400" y="2862072"/>
            <a:ext cx="2724912" cy="146304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8" name="Shape 32"/>
          <p:cNvSpPr/>
          <p:nvPr/>
        </p:nvSpPr>
        <p:spPr>
          <a:xfrm>
            <a:off x="3200400" y="2862072"/>
            <a:ext cx="272491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953512"/>
            <a:ext cx="320040" cy="32004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675888" y="29535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Firm Data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3310128" y="33649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Staff salary information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3310128" y="35935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Internal strategy documents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3310128" y="38221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Firm pricing and fee structures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3310128" y="40507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Pending ATO audits or disputes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080760" y="2862072"/>
            <a:ext cx="2724912" cy="146304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6" name="Shape 39"/>
          <p:cNvSpPr/>
          <p:nvPr/>
        </p:nvSpPr>
        <p:spPr>
          <a:xfrm>
            <a:off x="6080760" y="2862072"/>
            <a:ext cx="272491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953512"/>
            <a:ext cx="320040" cy="32004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556248" y="295351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&amp; Sensitive Info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190488" y="33649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Medical certificates or NDIS data</a:t>
            </a:r>
            <a:endParaRPr lang="en-US" sz="950" dirty="0"/>
          </a:p>
        </p:txBody>
      </p:sp>
      <p:sp>
        <p:nvSpPr>
          <p:cNvPr id="50" name="Text 42"/>
          <p:cNvSpPr/>
          <p:nvPr/>
        </p:nvSpPr>
        <p:spPr>
          <a:xfrm>
            <a:off x="6190488" y="35935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Workers' compensation details</a:t>
            </a:r>
            <a:endParaRPr lang="en-US" sz="950" dirty="0"/>
          </a:p>
        </p:txBody>
      </p:sp>
      <p:sp>
        <p:nvSpPr>
          <p:cNvPr id="51" name="Text 43"/>
          <p:cNvSpPr/>
          <p:nvPr/>
        </p:nvSpPr>
        <p:spPr>
          <a:xfrm>
            <a:off x="6190488" y="38221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 hardship disclosures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6190488" y="4050792"/>
            <a:ext cx="2505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Sensitive personal circumstances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5" name="Text 47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vs. Unsafe: Practical Examples for Accountants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23360" cy="3657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UNSAFE — Do Not Do This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804672"/>
            <a:ext cx="4023360" cy="36576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4800600" y="8046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 — Do This Instead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4023360" cy="749808"/>
          </a:xfrm>
          <a:prstGeom prst="rect">
            <a:avLst/>
          </a:prstGeom>
          <a:solidFill>
            <a:srgbClr val="FFF3F3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54864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" name="Text 8"/>
          <p:cNvSpPr/>
          <p:nvPr/>
        </p:nvSpPr>
        <p:spPr>
          <a:xfrm>
            <a:off x="438912" y="13533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client Jane Smith (TFN 456-789-123) earned $250,000 last year. What can she claim?"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1261872"/>
            <a:ext cx="4023360" cy="749808"/>
          </a:xfrm>
          <a:prstGeom prst="rect">
            <a:avLst/>
          </a:prstGeom>
          <a:solidFill>
            <a:srgbClr val="F0FFF5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Shape 11"/>
          <p:cNvSpPr/>
          <p:nvPr/>
        </p:nvSpPr>
        <p:spPr>
          <a:xfrm>
            <a:off x="4800600" y="1261872"/>
            <a:ext cx="54864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" name="Text 12"/>
          <p:cNvSpPr/>
          <p:nvPr/>
        </p:nvSpPr>
        <p:spPr>
          <a:xfrm>
            <a:off x="4919472" y="1353312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deductions are available for a consultant earning between $200K–$300K with home office expenses?"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103120"/>
            <a:ext cx="4023360" cy="749808"/>
          </a:xfrm>
          <a:prstGeom prst="rect">
            <a:avLst/>
          </a:prstGeom>
          <a:solidFill>
            <a:srgbClr val="FFF3F3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320040" y="2103120"/>
            <a:ext cx="54864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438912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our client's bank statement [paste]. Summarise the key transactions."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103120"/>
            <a:ext cx="4023360" cy="749808"/>
          </a:xfrm>
          <a:prstGeom prst="rect">
            <a:avLst/>
          </a:prstGeom>
          <a:solidFill>
            <a:srgbClr val="F0FFF5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0" name="Shape 18"/>
          <p:cNvSpPr/>
          <p:nvPr/>
        </p:nvSpPr>
        <p:spPr>
          <a:xfrm>
            <a:off x="4800600" y="2103120"/>
            <a:ext cx="54864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4919472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patterns should I look for in bank statement analysis for a small retail business?"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4023360" cy="749808"/>
          </a:xfrm>
          <a:prstGeom prst="rect">
            <a:avLst/>
          </a:prstGeom>
          <a:solidFill>
            <a:srgbClr val="FFF3F3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54864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4" name="Text 22"/>
          <p:cNvSpPr/>
          <p:nvPr/>
        </p:nvSpPr>
        <p:spPr>
          <a:xfrm>
            <a:off x="438912" y="3035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an email to John Brown at ABC Pty Ltd about his overdue BAS lodgement."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2944368"/>
            <a:ext cx="4023360" cy="749808"/>
          </a:xfrm>
          <a:prstGeom prst="rect">
            <a:avLst/>
          </a:prstGeom>
          <a:solidFill>
            <a:srgbClr val="F0FFF5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7" name="Shape 25"/>
          <p:cNvSpPr/>
          <p:nvPr/>
        </p:nvSpPr>
        <p:spPr>
          <a:xfrm>
            <a:off x="4800600" y="2944368"/>
            <a:ext cx="54864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4919472" y="303580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"Draft a professional follow-up email to a client reminding them their BAS is overdue."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785616"/>
            <a:ext cx="4023360" cy="749808"/>
          </a:xfrm>
          <a:prstGeom prst="rect">
            <a:avLst/>
          </a:prstGeom>
          <a:solidFill>
            <a:srgbClr val="FFF3F3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320040" y="3785616"/>
            <a:ext cx="54864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438912" y="38770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the financial statement for Smith &amp; Co — what are the major risks?"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785616"/>
            <a:ext cx="4023360" cy="749808"/>
          </a:xfrm>
          <a:prstGeom prst="rect">
            <a:avLst/>
          </a:prstGeom>
          <a:solidFill>
            <a:srgbClr val="F0FFF5"/>
          </a:solidFill>
          <a:ln/>
          <a:effectLst>
            <a:outerShdw blurRad="381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4" name="Shape 32"/>
          <p:cNvSpPr/>
          <p:nvPr/>
        </p:nvSpPr>
        <p:spPr>
          <a:xfrm>
            <a:off x="4800600" y="3785616"/>
            <a:ext cx="54864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5" name="Text 33"/>
          <p:cNvSpPr/>
          <p:nvPr/>
        </p:nvSpPr>
        <p:spPr>
          <a:xfrm>
            <a:off x="4919472" y="387705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45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common financial risks for a services business with revenue of ~$2M and high debtors?"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553712"/>
            <a:ext cx="8503920" cy="164592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/>
          <p:nvPr/>
        </p:nvSpPr>
        <p:spPr>
          <a:xfrm>
            <a:off x="384048" y="4558284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If you wouldn't email it to a stranger, don't put it in a consumer AI chatbot.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0" name="Text 38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Anonymisation: Using AI Without Exposing Client Data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AI's help with real scenarios, anonymise the data first. These techniques protect your clients while still getting useful output.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20040" y="1298448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Shape 4"/>
          <p:cNvSpPr/>
          <p:nvPr/>
        </p:nvSpPr>
        <p:spPr>
          <a:xfrm>
            <a:off x="320040" y="1298448"/>
            <a:ext cx="548640" cy="10515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" name="Text 5"/>
          <p:cNvSpPr/>
          <p:nvPr/>
        </p:nvSpPr>
        <p:spPr>
          <a:xfrm>
            <a:off x="320040" y="1572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87552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Masking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87552" y="1728216"/>
            <a:ext cx="3291840" cy="502920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Text 8"/>
          <p:cNvSpPr/>
          <p:nvPr/>
        </p:nvSpPr>
        <p:spPr>
          <a:xfrm>
            <a:off x="1033272" y="1755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Jane Smith at 14 Collins St, Melbourne earns $180,000...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115898" y="1728216"/>
            <a:ext cx="3291840" cy="502920"/>
          </a:xfrm>
          <a:prstGeom prst="rect">
            <a:avLst/>
          </a:prstGeom>
          <a:solidFill>
            <a:srgbClr val="F0FF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3" name="Text 10"/>
          <p:cNvSpPr/>
          <p:nvPr/>
        </p:nvSpPr>
        <p:spPr>
          <a:xfrm>
            <a:off x="5161618" y="17556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Client A earns $180,000 per year...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87552" y="205740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Replace names, addresses and identifiers with generic labels like 'Client A' or 'Company X'.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20040" y="2468880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7" name="Shape 14"/>
          <p:cNvSpPr/>
          <p:nvPr/>
        </p:nvSpPr>
        <p:spPr>
          <a:xfrm>
            <a:off x="320040" y="2468880"/>
            <a:ext cx="548640" cy="10515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8" name="Text 15"/>
          <p:cNvSpPr/>
          <p:nvPr/>
        </p:nvSpPr>
        <p:spPr>
          <a:xfrm>
            <a:off x="320040" y="27432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87552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Generalisation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87552" y="2898648"/>
            <a:ext cx="3291840" cy="502920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8"/>
          <p:cNvSpPr/>
          <p:nvPr/>
        </p:nvSpPr>
        <p:spPr>
          <a:xfrm>
            <a:off x="1033272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Revenue: $2,347,891 — Payroll: $891,234 — Profit: $445,022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115898" y="2898648"/>
            <a:ext cx="3291840" cy="502920"/>
          </a:xfrm>
          <a:prstGeom prst="rect">
            <a:avLst/>
          </a:prstGeom>
          <a:solidFill>
            <a:srgbClr val="F0FF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3" name="Text 20"/>
          <p:cNvSpPr/>
          <p:nvPr/>
        </p:nvSpPr>
        <p:spPr>
          <a:xfrm>
            <a:off x="5161618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Revenue: ~$2.3M — Payroll: ~$900K — Profit margin: ~19%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87552" y="322783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approximate ranges instead of exact figures to prevent identification.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20040" y="3639312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7" name="Shape 24"/>
          <p:cNvSpPr/>
          <p:nvPr/>
        </p:nvSpPr>
        <p:spPr>
          <a:xfrm>
            <a:off x="320040" y="3639312"/>
            <a:ext cx="548640" cy="105156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8" name="Text 25"/>
          <p:cNvSpPr/>
          <p:nvPr/>
        </p:nvSpPr>
        <p:spPr>
          <a:xfrm>
            <a:off x="320040" y="39136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987552" y="37124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Reference Numbers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87552" y="4069080"/>
            <a:ext cx="3291840" cy="502920"/>
          </a:xfrm>
          <a:prstGeom prst="rect">
            <a:avLst/>
          </a:prstGeom>
          <a:solidFill>
            <a:srgbClr val="FFF3F3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1" name="Text 28"/>
          <p:cNvSpPr/>
          <p:nvPr/>
        </p:nvSpPr>
        <p:spPr>
          <a:xfrm>
            <a:off x="1033272" y="4096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TFN: 456-789-123, ABN: 12 345 678 901, Bank BSB: 063-180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115898" y="4069080"/>
            <a:ext cx="3291840" cy="502920"/>
          </a:xfrm>
          <a:prstGeom prst="rect">
            <a:avLst/>
          </a:prstGeom>
          <a:solidFill>
            <a:srgbClr val="F0FFF5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3" name="Text 30"/>
          <p:cNvSpPr/>
          <p:nvPr/>
        </p:nvSpPr>
        <p:spPr>
          <a:xfrm>
            <a:off x="5161618" y="4096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[TFN removed] — sole trader — [bank details removed]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87552" y="4398264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Strip all TFNs, ABNs, account numbers, and reference IDs before pasting.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20040" y="4809744"/>
            <a:ext cx="8503920" cy="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7" name="Shape 34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9" name="Text 36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914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Practices: Safe AI Use for Your Team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804672"/>
            <a:ext cx="4023360" cy="41148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Text 3"/>
          <p:cNvSpPr/>
          <p:nvPr/>
        </p:nvSpPr>
        <p:spPr>
          <a:xfrm>
            <a:off x="320040" y="804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DO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" y="1298448"/>
            <a:ext cx="4023360" cy="45720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37160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enterprise-grade tools (M365 Copilot, ChatGPT Enterprise) for client work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" y="1828800"/>
            <a:ext cx="4023360" cy="45720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190195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232" y="18836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 all data before entering any scenario into AI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20040" y="2359152"/>
            <a:ext cx="4023360" cy="45720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43230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3232" y="2414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AI output against official ATO, ASIC or legislative sources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20040" y="2889504"/>
            <a:ext cx="4023360" cy="45720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62656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3232" y="2944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accidental data sharing to your supervisor immediately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320040" y="3419856"/>
            <a:ext cx="4023360" cy="45720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493008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3232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firm-provided AI training before using any AI tool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320040" y="3950208"/>
            <a:ext cx="4023360" cy="457200"/>
          </a:xfrm>
          <a:prstGeom prst="rect">
            <a:avLst/>
          </a:prstGeom>
          <a:solidFill>
            <a:srgbClr val="0A2A1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4023360"/>
            <a:ext cx="256032" cy="25603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13232" y="40050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when and how AI was used in your work for audit trails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4800600" y="804672"/>
            <a:ext cx="402336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6" name="Text 17"/>
          <p:cNvSpPr/>
          <p:nvPr/>
        </p:nvSpPr>
        <p:spPr>
          <a:xfrm>
            <a:off x="4800600" y="804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 DON'T</a:t>
            </a:r>
            <a:endParaRPr lang="en-US" sz="1600" dirty="0"/>
          </a:p>
        </p:txBody>
      </p:sp>
      <p:sp>
        <p:nvSpPr>
          <p:cNvPr id="27" name="Shape 18"/>
          <p:cNvSpPr/>
          <p:nvPr/>
        </p:nvSpPr>
        <p:spPr>
          <a:xfrm>
            <a:off x="4800600" y="1298448"/>
            <a:ext cx="4023360" cy="45720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371600"/>
            <a:ext cx="256032" cy="256032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84648" y="13533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client financial statements, TFNs or personal data into any chatbot</a:t>
            </a:r>
            <a:endParaRPr lang="en-US" sz="1000" dirty="0"/>
          </a:p>
        </p:txBody>
      </p:sp>
      <p:sp>
        <p:nvSpPr>
          <p:cNvPr id="30" name="Shape 20"/>
          <p:cNvSpPr/>
          <p:nvPr/>
        </p:nvSpPr>
        <p:spPr>
          <a:xfrm>
            <a:off x="4800600" y="1828800"/>
            <a:ext cx="4023360" cy="45720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1901952"/>
            <a:ext cx="256032" cy="25603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184648" y="188366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personal ChatGPT or Gemini account for client-related tasks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4800600" y="2359152"/>
            <a:ext cx="4023360" cy="45720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432304"/>
            <a:ext cx="256032" cy="256032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184648" y="24140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AI output without cross-checking against authoritative sources</a:t>
            </a:r>
            <a:endParaRPr lang="en-US" sz="1000" dirty="0"/>
          </a:p>
        </p:txBody>
      </p:sp>
      <p:sp>
        <p:nvSpPr>
          <p:cNvPr id="36" name="Shape 24"/>
          <p:cNvSpPr/>
          <p:nvPr/>
        </p:nvSpPr>
        <p:spPr>
          <a:xfrm>
            <a:off x="4800600" y="2889504"/>
            <a:ext cx="4023360" cy="45720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962656"/>
            <a:ext cx="256032" cy="25603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184648" y="29443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AI conversations containing client data with colleagues externally</a:t>
            </a:r>
            <a:endParaRPr lang="en-US" sz="1000" dirty="0"/>
          </a:p>
        </p:txBody>
      </p:sp>
      <p:sp>
        <p:nvSpPr>
          <p:cNvPr id="39" name="Shape 26"/>
          <p:cNvSpPr/>
          <p:nvPr/>
        </p:nvSpPr>
        <p:spPr>
          <a:xfrm>
            <a:off x="4800600" y="3419856"/>
            <a:ext cx="4023360" cy="45720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3493008"/>
            <a:ext cx="256032" cy="25603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5184648" y="3474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client consent to AI — they have not agreed to third-party AI use</a:t>
            </a:r>
            <a:endParaRPr lang="en-US" sz="1000" dirty="0"/>
          </a:p>
        </p:txBody>
      </p:sp>
      <p:sp>
        <p:nvSpPr>
          <p:cNvPr id="42" name="Shape 28"/>
          <p:cNvSpPr/>
          <p:nvPr/>
        </p:nvSpPr>
        <p:spPr>
          <a:xfrm>
            <a:off x="4800600" y="3950208"/>
            <a:ext cx="4023360" cy="457200"/>
          </a:xfrm>
          <a:prstGeom prst="rect">
            <a:avLst/>
          </a:prstGeom>
          <a:solidFill>
            <a:srgbClr val="2A0A0A"/>
          </a:solidFill>
          <a:ln/>
        </p:spPr>
        <p:txBody>
          <a:bodyPr/>
          <a:lstStyle/>
          <a:p>
            <a:endParaRPr lang="en-PH"/>
          </a:p>
        </p:txBody>
      </p:sp>
      <p:pic>
        <p:nvPicPr>
          <p:cNvPr id="43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4023360"/>
            <a:ext cx="256032" cy="256032"/>
          </a:xfrm>
          <a:prstGeom prst="rect">
            <a:avLst/>
          </a:prstGeom>
        </p:spPr>
      </p:pic>
      <p:sp>
        <p:nvSpPr>
          <p:cNvPr id="44" name="Text 29"/>
          <p:cNvSpPr/>
          <p:nvPr/>
        </p:nvSpPr>
        <p:spPr>
          <a:xfrm>
            <a:off x="5184648" y="40050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make final decisions — it is a tool, not a professional judgement</a:t>
            </a:r>
            <a:endParaRPr lang="en-US" sz="1000" dirty="0"/>
          </a:p>
        </p:txBody>
      </p:sp>
      <p:sp>
        <p:nvSpPr>
          <p:cNvPr id="45" name="Shape 30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F1A45"/>
          </a:solidFill>
          <a:ln w="12700">
            <a:solidFill>
              <a:srgbClr val="0F1A45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7" name="Text 32"/>
          <p:cNvSpPr/>
          <p:nvPr/>
        </p:nvSpPr>
        <p:spPr>
          <a:xfrm>
            <a:off x="5943600" y="4837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AI Usage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54864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Action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immediate steps every team member should take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8138160" cy="9601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502920" y="1207008"/>
            <a:ext cx="68580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07592" y="129844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&amp; Audit Now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07592" y="16459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which AI tools you currently use. If you use a personal (free/plus) account for any work-related tasks — stop immediately and speak to your supervisor.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304288"/>
            <a:ext cx="8138160" cy="9601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1" name="Shape 9"/>
          <p:cNvSpPr/>
          <p:nvPr/>
        </p:nvSpPr>
        <p:spPr>
          <a:xfrm>
            <a:off x="502920" y="2304288"/>
            <a:ext cx="685800" cy="9601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" name="Text 10"/>
          <p:cNvSpPr/>
          <p:nvPr/>
        </p:nvSpPr>
        <p:spPr>
          <a:xfrm>
            <a:off x="502920" y="24871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07592" y="239572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Switch to Approved Tools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07592" y="2743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firm-approved enterprise AI tools for client work. Check with IT about access to Microsoft 365 Copilot or ChatGPT Enterprise.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401568"/>
            <a:ext cx="8138160" cy="960120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6" name="Shape 14"/>
          <p:cNvSpPr/>
          <p:nvPr/>
        </p:nvSpPr>
        <p:spPr>
          <a:xfrm>
            <a:off x="502920" y="3401568"/>
            <a:ext cx="685800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07592" y="349300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in Doubt — Don't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07592" y="3840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unsure whether it is safe to use AI for a task, don't. Ask your supervisor or use alternative methods. One breach can cost the firm millions.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480560"/>
            <a:ext cx="8138160" cy="274320"/>
          </a:xfrm>
          <a:prstGeom prst="rect">
            <a:avLst/>
          </a:prstGeom>
          <a:solidFill>
            <a:srgbClr val="C9A84C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1" name="Text 19"/>
          <p:cNvSpPr/>
          <p:nvPr/>
        </p:nvSpPr>
        <p:spPr>
          <a:xfrm>
            <a:off x="594360" y="4489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supervisor or the Dexterous Group BIT team before using any AI tool with client data.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828032"/>
            <a:ext cx="8823960" cy="320040"/>
          </a:xfrm>
          <a:prstGeom prst="rect">
            <a:avLst/>
          </a:prstGeom>
          <a:solidFill>
            <a:srgbClr val="0A1130"/>
          </a:solidFill>
          <a:ln w="12700">
            <a:solidFill>
              <a:srgbClr val="0A113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Citations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sources for the information included in this presentation. Feel free to verify or fact-check them.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" name="Shape 4"/>
          <p:cNvSpPr/>
          <p:nvPr/>
        </p:nvSpPr>
        <p:spPr>
          <a:xfrm>
            <a:off x="347472" y="1261872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347472" y="14081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12984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Daily Use at Work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14996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 Workforce Survey, February 2026 — 19% of employees use AI daily at work.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86384" y="173736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gallup.com/workplace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47472" y="1965960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2" name="Shape 10"/>
          <p:cNvSpPr/>
          <p:nvPr/>
        </p:nvSpPr>
        <p:spPr>
          <a:xfrm>
            <a:off x="347472" y="1965960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47472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" y="20025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Firms with Formal AI Policy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" y="220370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analysis (2025) — 43% of organisations now have an AI governance policy; 57% still lack one.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86384" y="2441448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isaca.org / gartner.com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47472" y="2670048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18" name="Shape 16"/>
          <p:cNvSpPr/>
          <p:nvPr/>
        </p:nvSpPr>
        <p:spPr>
          <a:xfrm>
            <a:off x="347472" y="2670048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347472" y="2816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" y="270662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 Cost of a Professional Data Breach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6384" y="29077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 2024 — Average breach cost: USD $5.08 million for professional services firms.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86384" y="3145536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ibm.com/reports/data-breach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47472" y="3374136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24" name="Shape 22"/>
          <p:cNvSpPr/>
          <p:nvPr/>
        </p:nvSpPr>
        <p:spPr>
          <a:xfrm>
            <a:off x="347472" y="3374136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25" name="Text 23"/>
          <p:cNvSpPr/>
          <p:nvPr/>
        </p:nvSpPr>
        <p:spPr>
          <a:xfrm>
            <a:off x="347472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" y="341071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Breached Organisations Lacking AI Access Controls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6384" y="36118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 2024 — 97% of breached organisations had no proper AI access controls.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86384" y="3849624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ibm.com/reports/data-breach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47472" y="4078224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0" name="Shape 28"/>
          <p:cNvSpPr/>
          <p:nvPr/>
        </p:nvSpPr>
        <p:spPr>
          <a:xfrm>
            <a:off x="347472" y="4078224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347472" y="4224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6384" y="41148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 the #1 Data Exfiltration Channel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6384" y="431596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LayerX Enterprise AI and SaaS Data Security Report 2025 — AI tools are now the #1 corporate data exfiltration vector; 77% of employees paste data into GenAI tools.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6384" y="4553712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layerxsecurity.com/enterprise-ai-saas-data-security-report-2025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663440" y="1261872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36" name="Shape 34"/>
          <p:cNvSpPr/>
          <p:nvPr/>
        </p:nvSpPr>
        <p:spPr>
          <a:xfrm>
            <a:off x="4663440" y="1261872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/>
          <p:nvPr/>
        </p:nvSpPr>
        <p:spPr>
          <a:xfrm>
            <a:off x="4663440" y="14081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02352" y="129844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Shadow AI Adding Cost to Data Breaches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102352" y="1499616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Cost of a Data Breach Report 2024 — Shadow AI adds an average of USD $670,000 to the cost of a data breach.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02352" y="1737360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ibm.com/reports/data-breach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663440" y="1965960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2" name="Shape 40"/>
          <p:cNvSpPr/>
          <p:nvPr/>
        </p:nvSpPr>
        <p:spPr>
          <a:xfrm>
            <a:off x="4663440" y="1965960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3" name="Text 41"/>
          <p:cNvSpPr/>
          <p:nvPr/>
        </p:nvSpPr>
        <p:spPr>
          <a:xfrm>
            <a:off x="466344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02352" y="200253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Employees Making Mistakes Due to AI Errors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102352" y="2203704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Trust in AI: Global Insights 2025 (April 2025, n=48,000 across 47 countries) — 57% of employees admit making mistakes due to AI-generated errors.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102352" y="2441448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kpmg.com/us/en/media/news/trust-in-ai-2025.html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663440" y="2670048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48" name="Shape 46"/>
          <p:cNvSpPr/>
          <p:nvPr/>
        </p:nvSpPr>
        <p:spPr>
          <a:xfrm>
            <a:off x="4663440" y="2670048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49" name="Text 47"/>
          <p:cNvSpPr/>
          <p:nvPr/>
        </p:nvSpPr>
        <p:spPr>
          <a:xfrm>
            <a:off x="4663440" y="281635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02352" y="270662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Deloitte Australia AI Hallucination Incident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02352" y="2907792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2025 — Deloitte Australia issued a $291,000 refund after an AI tool hallucinated a government report that did not exist.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102352" y="3145536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news sources, 2025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663440" y="3374136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54" name="Shape 52"/>
          <p:cNvSpPr/>
          <p:nvPr/>
        </p:nvSpPr>
        <p:spPr>
          <a:xfrm>
            <a:off x="4663440" y="3374136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5" name="Text 53"/>
          <p:cNvSpPr/>
          <p:nvPr/>
        </p:nvSpPr>
        <p:spPr>
          <a:xfrm>
            <a:off x="4663440" y="35204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02352" y="341071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Samsung Confidential Data Leak via ChatGPT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102352" y="36118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2023 — Samsung engineers inadvertently leaked source code and meeting notes by pasting them into ChatGPT. Data could not be deleted from OpenAI servers.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102352" y="3849624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news sources, 2023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663440" y="4078224"/>
            <a:ext cx="4206240" cy="621792"/>
          </a:xfrm>
          <a:prstGeom prst="rect">
            <a:avLst/>
          </a:prstGeom>
          <a:solidFill>
            <a:srgbClr val="1B2A6B"/>
          </a:solidFill>
          <a:ln/>
        </p:spPr>
        <p:txBody>
          <a:bodyPr/>
          <a:lstStyle/>
          <a:p>
            <a:endParaRPr lang="en-PH"/>
          </a:p>
        </p:txBody>
      </p:sp>
      <p:sp>
        <p:nvSpPr>
          <p:cNvPr id="60" name="Shape 58"/>
          <p:cNvSpPr/>
          <p:nvPr/>
        </p:nvSpPr>
        <p:spPr>
          <a:xfrm>
            <a:off x="4663440" y="4078224"/>
            <a:ext cx="384048" cy="6217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1" name="Text 59"/>
          <p:cNvSpPr/>
          <p:nvPr/>
        </p:nvSpPr>
        <p:spPr>
          <a:xfrm>
            <a:off x="4663440" y="422452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02352" y="41148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Australian Regulatory References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102352" y="431596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Practitioners Board Code of Professional Conduct, Item 6 | Privacy (Tax File Number) Rule 2015 | Taxation Administration Act 1953 | Australian Privacy Act 1988 (APP 11)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5102352" y="4553712"/>
            <a:ext cx="3703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tpb.gov.au  |  legislation.gov.au  |  oaic.gov.au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A1130"/>
          </a:solidFill>
          <a:ln w="12700">
            <a:solidFill>
              <a:srgbClr val="0A113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2291</Words>
  <Application>Microsoft Office PowerPoint</Application>
  <PresentationFormat>On-screen Show (16:9)</PresentationFormat>
  <Paragraphs>274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AI Usage – Dexterous Group</dc:title>
  <dc:subject>PptxGenJS Presentation</dc:subject>
  <dc:creator>Dexterous Group</dc:creator>
  <cp:lastModifiedBy>Dherick Jay Paalam</cp:lastModifiedBy>
  <cp:revision>13</cp:revision>
  <dcterms:created xsi:type="dcterms:W3CDTF">2026-02-24T02:17:09Z</dcterms:created>
  <dcterms:modified xsi:type="dcterms:W3CDTF">2026-02-24T02:37:03Z</dcterms:modified>
</cp:coreProperties>
</file>